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V80+BETy4jdNMfK7kowNsA8Tl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74C221-4848-4623-9078-94F99715D0DB}">
  <a:tblStyle styleId="{0674C221-4848-4623-9078-94F99715D0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12344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BD2D7"/>
                </a:solidFill>
                <a:latin typeface="Arial"/>
                <a:ea typeface="Arial"/>
                <a:cs typeface="Arial"/>
                <a:sym typeface="Arial"/>
              </a:rPr>
              <a:t>UBER EATS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22960" y="1874519"/>
            <a:ext cx="10607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Grocery &amp; Food Delivery</a:t>
            </a:r>
            <a:b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68680" y="37033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DCE6F0"/>
                </a:solidFill>
                <a:latin typeface="Arial"/>
                <a:ea typeface="Arial"/>
                <a:cs typeface="Arial"/>
                <a:sym typeface="Arial"/>
              </a:rPr>
              <a:t>End-to-end data analytics and machine learning capstone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68680" y="507492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by: Malreddy Sujaya</a:t>
            </a:r>
            <a:br>
              <a:rPr b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Trainee Data Analyst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868680" y="626364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B4C6D7"/>
                </a:solidFill>
                <a:latin typeface="Arial"/>
                <a:ea typeface="Arial"/>
                <a:cs typeface="Arial"/>
                <a:sym typeface="Arial"/>
              </a:rPr>
              <a:t>15–20 minute project walkthrough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Business Problem &amp; Project Objectives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21792" y="868680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Turning operational data into practical decisions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621792" y="1298448"/>
            <a:ext cx="10927080" cy="32004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Food delivery platforms generate data across customers, restaurants, orders, deliveries, payments and reviews.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The business needs visibility into customer behavior, restaurant performance and customer experience.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Delivery-time prediction can support better operational planning.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Hourly demand forecasting can help plan restaurant and delivery-partner capacity.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Project goal: combine analytics, machine learning, NLP and forecasting into one business view.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Dataset &amp; Project Architecture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621792" y="868680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Seven synthetic datasets support the analysis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21792" y="1298448"/>
            <a:ext cx="10927080" cy="32004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85800" y="164592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850392" y="178308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850392" y="2212848"/>
            <a:ext cx="2185416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Customer attributes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3474720" y="164592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3639312" y="178308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Restaurants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639312" y="2212848"/>
            <a:ext cx="2185416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Restaurant details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263640" y="164592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428231" y="178308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Orders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6428231" y="2212848"/>
            <a:ext cx="2185416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Order transactions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9052559" y="164592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9217151" y="178308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Deliveries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9217151" y="2212848"/>
            <a:ext cx="2185416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Delivery performance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85800" y="306324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850392" y="320040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Drivers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850392" y="3630168"/>
            <a:ext cx="2185416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Delivery partner details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3474720" y="306324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3639312" y="320040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Reviews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3639312" y="3630168"/>
            <a:ext cx="2185416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Customer feedback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263640" y="306324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428231" y="320040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Payments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428231" y="3630168"/>
            <a:ext cx="2185416" cy="3657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Payment transactions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822960" y="498348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Workflow: Raw data → Cleaning &amp; feature engineering → Models → Evaluation → Business insights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68680" y="571500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Tools: Python, Pandas, NumPy, Matplotlib, Seaborn, Scikit-learn, NLTK, Statsmodels, ARIMA, Prophet, Git/GitHub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Data Preparation &amp; Feature Engineering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621792" y="868680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Preparing consistent inputs for analysis and modeling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21792" y="1298448"/>
            <a:ext cx="10927080" cy="32004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31520" y="173736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96112" y="1874519"/>
            <a:ext cx="30998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Inspect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896112" y="2304288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Review dimensions, column names, data types, missing values and duplicate records.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389120" y="173736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553712" y="1874519"/>
            <a:ext cx="30998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4553712" y="2304288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Convert date/time fields, handle data-quality issues and prepare analysis-ready datasets.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8046720" y="173736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8211312" y="1874519"/>
            <a:ext cx="30998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09136"/>
                </a:solidFill>
                <a:latin typeface="Arial"/>
                <a:ea typeface="Arial"/>
                <a:cs typeface="Arial"/>
                <a:sym typeface="Arial"/>
              </a:rPr>
              <a:t>Engineer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8211312" y="2304288"/>
            <a:ext cx="309981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Create customer, restaurant, delivery and time-based features for downstream analysis.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914400" y="406908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Processed data is stored separately from the original raw CSV files.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Reusable notebooks and scripts support reproducibility.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The data dictionary documents the datasets and their columns.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Customer &amp; Restaurant Segmentation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621792" y="868680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K-Means profiles supported by DBSCAN and PCA exploration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21792" y="1298448"/>
            <a:ext cx="10927080" cy="32004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822960" y="15727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CUSTOMER SEGMENTS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6309360" y="15727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RESTAURANT SEGMENTS</a:t>
            </a:r>
            <a:endParaRPr/>
          </a:p>
        </p:txBody>
      </p:sp>
      <p:graphicFrame>
        <p:nvGraphicFramePr>
          <p:cNvPr id="165" name="Google Shape;165;p5"/>
          <p:cNvGraphicFramePr/>
          <p:nvPr/>
        </p:nvGraphicFramePr>
        <p:xfrm>
          <a:off x="77724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{0674C221-4848-4623-9078-94F99715D0DB}</a:tableStyleId>
              </a:tblPr>
              <a:tblGrid>
                <a:gridCol w="1303025"/>
                <a:gridCol w="1303025"/>
                <a:gridCol w="1303025"/>
                <a:gridCol w="13030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Cluster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Avg. orders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Avg. spending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259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6.39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4,462.77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163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11.15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8,432.26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8.28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5,925.82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5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{0674C221-4848-4623-9078-94F99715D0DB}</a:tableStyleId>
              </a:tblPr>
              <a:tblGrid>
                <a:gridCol w="1303025"/>
                <a:gridCol w="1303025"/>
                <a:gridCol w="1303025"/>
                <a:gridCol w="13030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Cluster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Restaurants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Avg. orders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5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Avg. revenue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91.60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56,305.16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76.82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46,555.92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78.00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2A3440"/>
                          </a:solidFill>
                        </a:rPr>
                        <a:t>44,080.53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5"/>
          <p:cNvSpPr txBox="1"/>
          <p:nvPr/>
        </p:nvSpPr>
        <p:spPr>
          <a:xfrm>
            <a:off x="868680" y="425196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Customer Cluster 1 shows the highest average order frequency and spending.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Restaurant Cluster 0 has the highest average order volume and revenue.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Cluster labels are descriptive only; DBSCAN also identifies noise/outlier records.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Customer Review Sentiment Analysis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621792" y="868680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TF-IDF + Multinomial Naive Bayes compared with VADER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21792" y="1298448"/>
            <a:ext cx="10927080" cy="32004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77240" y="182880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941832" y="196596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Naive Bayes accuracy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941832" y="2395728"/>
            <a:ext cx="21854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100.00%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3566160" y="182880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3730752" y="196596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VADER accuracy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3730752" y="2395728"/>
            <a:ext cx="21854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68.67%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355079" y="182880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6519671" y="196596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Naive Bayes F1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6519671" y="2395728"/>
            <a:ext cx="21854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9143999" y="182880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9308591" y="1965960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VADER F1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9308591" y="2395728"/>
            <a:ext cx="21854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0.7009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914400" y="36576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TF-IDF converts review text into numerical features for classification.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Naive Bayes scored higher than VADER on this generated review dataset.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Negative review themes can help identify recurring service issues.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914400" y="55778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09136"/>
                </a:solidFill>
                <a:latin typeface="Arial"/>
                <a:ea typeface="Arial"/>
                <a:cs typeface="Arial"/>
                <a:sym typeface="Arial"/>
              </a:rPr>
              <a:t>Important: the dataset and labels are synthetic. Perfect test scores do not establish real-world model performance.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Delivery Time Prediction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621792" y="868680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Regression models estimate delivery duration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621792" y="1298448"/>
            <a:ext cx="10927080" cy="32004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868680" y="1691640"/>
            <a:ext cx="10515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Target variable: delivery_time_minutes.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Models compared: baseline, Random Forest, Ridge and Lasso regression.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Numerical and categorical features were prepared through preprocessing pipelines.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Evaluation: MAE, RMSE and R²; actual-versus-predicted plots and feature importance support interpretation.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914400" y="4572000"/>
            <a:ext cx="10241280" cy="9144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1078992" y="4709160"/>
            <a:ext cx="99120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09136"/>
                </a:solidFill>
                <a:latin typeface="Arial"/>
                <a:ea typeface="Arial"/>
                <a:cs typeface="Arial"/>
                <a:sym typeface="Arial"/>
              </a:rPr>
              <a:t>Final result to present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1078992" y="5138928"/>
            <a:ext cx="99120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Insert the best-performing model and its test MAE, RMSE and R² from reports/insights/regression_model_comparison.csv.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Hourly Order Demand Forecasting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621792" y="868680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Time-series analysis to support capacity planning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21792" y="1298448"/>
            <a:ext cx="10927080" cy="32004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868680" y="1645920"/>
            <a:ext cx="10515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Orders were aggregated into hourly demand observations.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Hourly patterns and time-series decomposition were explored.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Stationarity was checked using the Augmented Dickey-Fuller test; differencing was considered where required.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Models compared: hour-of-day baseline, ARIMA and Prophet.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Evaluation: MAE, RMSE and MAPE using a chronological train/test split.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914400" y="3986761"/>
            <a:ext cx="10241400" cy="186540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Model,MAE,RMSE,MAPE_Percent,MAPE_Valid_Hours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Prophet,1.1796230696205017,1.4825943403918433,54.92084888523004,394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ARIMA,1.186247737372102,1.4755227591149727,54.96203093626899,394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Hourly Baseline,1.200102880658436,1.5035056343049837,55.52912570837697,394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1079000" y="3986728"/>
            <a:ext cx="9912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09136"/>
                </a:solidFill>
                <a:latin typeface="Arial"/>
                <a:ea typeface="Arial"/>
                <a:cs typeface="Arial"/>
                <a:sym typeface="Arial"/>
              </a:rPr>
              <a:t>Final result to present</a:t>
            </a:r>
            <a:endParaRPr b="1" sz="1600">
              <a:solidFill>
                <a:srgbClr val="E09136"/>
              </a:solidFill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53F"/>
                </a:solidFill>
                <a:latin typeface="Arial"/>
                <a:ea typeface="Arial"/>
                <a:cs typeface="Arial"/>
                <a:sym typeface="Arial"/>
              </a:rPr>
              <a:t>Integrated Business Insights &amp; Recommendations</a:t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621792" y="868680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Connecting model outputs to operational actions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21792" y="1298448"/>
            <a:ext cx="10927080" cy="32004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31520" y="169164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896112" y="1828800"/>
            <a:ext cx="31455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Customer retention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896112" y="2258568"/>
            <a:ext cx="3145536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Use targeted loyalty rewards for frequent and high-spending customer groups.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4389120" y="169164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4553712" y="1828800"/>
            <a:ext cx="31455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Restaurant operations</a:t>
            </a:r>
            <a:endParaRPr/>
          </a:p>
        </p:txBody>
      </p:sp>
      <p:sp>
        <p:nvSpPr>
          <p:cNvPr id="234" name="Google Shape;234;p9"/>
          <p:cNvSpPr txBox="1"/>
          <p:nvPr/>
        </p:nvSpPr>
        <p:spPr>
          <a:xfrm>
            <a:off x="4553712" y="2258568"/>
            <a:ext cx="3145536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Study high-revenue practices and investigate cancellation differences.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8046720" y="169164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8211312" y="1828800"/>
            <a:ext cx="31455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09136"/>
                </a:solidFill>
                <a:latin typeface="Arial"/>
                <a:ea typeface="Arial"/>
                <a:cs typeface="Arial"/>
                <a:sym typeface="Arial"/>
              </a:rPr>
              <a:t>Customer experience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8211312" y="2258568"/>
            <a:ext cx="3145536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Monitor negative feedback themes and address recurring complaints.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731520" y="356616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896112" y="3703320"/>
            <a:ext cx="31455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39191"/>
                </a:solidFill>
                <a:latin typeface="Arial"/>
                <a:ea typeface="Arial"/>
                <a:cs typeface="Arial"/>
                <a:sym typeface="Arial"/>
              </a:rPr>
              <a:t>Delivery planning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896112" y="4133087"/>
            <a:ext cx="3145536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Use validated delivery-time estimates to support operational planning.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4389120" y="356616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4553712" y="3703320"/>
            <a:ext cx="31455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869AA"/>
                </a:solidFill>
                <a:latin typeface="Arial"/>
                <a:ea typeface="Arial"/>
                <a:cs typeface="Arial"/>
                <a:sym typeface="Arial"/>
              </a:rPr>
              <a:t>Demand capacity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4553712" y="4133087"/>
            <a:ext cx="3145536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Use hourly forecasts to plan restaurant and delivery-partner capacity.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8046720" y="3566160"/>
            <a:ext cx="3474720" cy="1508760"/>
          </a:xfrm>
          <a:prstGeom prst="roundRect">
            <a:avLst>
              <a:gd fmla="val 16667" name="adj"/>
            </a:avLst>
          </a:prstGeom>
          <a:solidFill>
            <a:srgbClr val="F2F6FA"/>
          </a:solidFill>
          <a:ln cap="flat" cmpd="sng" w="9525">
            <a:solidFill>
              <a:srgbClr val="DEE6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8211312" y="3703320"/>
            <a:ext cx="31455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09136"/>
                </a:solidFill>
                <a:latin typeface="Arial"/>
                <a:ea typeface="Arial"/>
                <a:cs typeface="Arial"/>
                <a:sym typeface="Arial"/>
              </a:rPr>
              <a:t>KPI monitoring</a:t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8211312" y="4133087"/>
            <a:ext cx="3145536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2A3440"/>
                </a:solidFill>
                <a:latin typeface="Arial"/>
                <a:ea typeface="Arial"/>
                <a:cs typeface="Arial"/>
                <a:sym typeface="Arial"/>
              </a:rPr>
              <a:t>Track order, revenue, cancellation, delivery and sentiment indicators.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Recommendations should be validated against real operational data before implementation.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777240" y="50292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Limitations, Future Scope &amp; Conclusion</a:t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804672" y="1143000"/>
            <a:ext cx="10607040" cy="36576"/>
          </a:xfrm>
          <a:prstGeom prst="rect">
            <a:avLst/>
          </a:prstGeom>
          <a:solidFill>
            <a:srgbClr val="23919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868680" y="150876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BD2D7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868680" y="1920240"/>
            <a:ext cx="4846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Synthetic data may not reflect real operational behavior.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scores need validation on real-world data.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Forecasts may not capture unexpected demand changes.</a:t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6263640" y="15087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BD2D7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6263640" y="1920240"/>
            <a:ext cx="4846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 real-time traffic, weather and operational data.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Explore advanced NLP and forecasting models.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 models through APIs and interactive dashboards.</a:t>
            </a: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914400" y="470916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capstone demonstrates an end-to-end workflow from data preparation to business recommendations.</a:t>
            </a:r>
            <a:endParaRPr/>
          </a:p>
        </p:txBody>
      </p:sp>
      <p:sp>
        <p:nvSpPr>
          <p:cNvPr id="262" name="Google Shape;262;p10"/>
          <p:cNvSpPr txBox="1"/>
          <p:nvPr/>
        </p:nvSpPr>
        <p:spPr>
          <a:xfrm>
            <a:off x="914400" y="5715000"/>
            <a:ext cx="10332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9BD2D7"/>
                </a:solidFill>
                <a:latin typeface="Arial"/>
                <a:ea typeface="Arial"/>
                <a:cs typeface="Arial"/>
                <a:sym typeface="Arial"/>
              </a:rPr>
              <a:t>Thank you  </a:t>
            </a:r>
            <a:endParaRPr b="1" sz="1700">
              <a:solidFill>
                <a:srgbClr val="9BD2D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9BD2D7"/>
              </a:solidFill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UBER EATS CAPSTONE  |  FINAL PRESENTATION</a:t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974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